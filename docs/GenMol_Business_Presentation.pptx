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 snapToObjects="1">
      <p:cViewPr varScale="1">
        <p:scale>
          <a:sx n="120" d="100"/>
          <a:sy n="120" d="100"/>
        </p:scale>
        <p:origin x="800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3794760"/>
            <a:ext cx="12191695" cy="73152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5156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4600" b="1">
                <a:solidFill>
                  <a:srgbClr val="FFFFFF"/>
                </a:solidFill>
                <a:latin typeface="Calibri"/>
              </a:rPr>
              <a:t>Generative Molecular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42316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600" b="1">
                <a:solidFill>
                  <a:srgbClr val="76B900"/>
                </a:solidFill>
                <a:latin typeface="Calibri"/>
              </a:rPr>
              <a:t>Proven with NVIDIA GenMol — on a single GPU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114800"/>
            <a:ext cx="105156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700" b="0">
                <a:solidFill>
                  <a:srgbClr val="FFFFFF"/>
                </a:solidFill>
                <a:latin typeface="Calibri"/>
              </a:rPr>
              <a:t>We fine-tuned NVIDIA's GenMol model on a real dataset and it generated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700" b="0">
                <a:solidFill>
                  <a:srgbClr val="FFFFFF"/>
                </a:solidFill>
                <a:latin typeface="Calibri"/>
              </a:rPr>
              <a:t>valid, novel, drug-like molecules aligned to the target chemistry.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700" b="1">
                <a:solidFill>
                  <a:srgbClr val="76B900"/>
                </a:solidFill>
                <a:latin typeface="Calibri"/>
              </a:rPr>
              <a:t>The approach works — and it's ready to apply to your data.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556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1">
                <a:solidFill>
                  <a:srgbClr val="76B900"/>
                </a:solidFill>
                <a:latin typeface="Calibri"/>
              </a:rPr>
              <a:t>THE PROBLEM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The Challenge in Early Discovery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63040"/>
            <a:ext cx="65836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600"/>
              </a:spcAft>
            </a:pPr>
            <a:r>
              <a:rPr sz="1700" b="1">
                <a:solidFill>
                  <a:srgbClr val="1A1A1A"/>
                </a:solidFill>
                <a:latin typeface="Calibri"/>
              </a:rPr>
              <a:t>•  Finding new molecules is slow, costly, and largely trial-and-error.</a:t>
            </a:r>
          </a:p>
          <a:p>
            <a:pPr>
              <a:lnSpc>
                <a:spcPct val="108000"/>
              </a:lnSpc>
              <a:spcAft>
                <a:spcPts val="1600"/>
              </a:spcAft>
            </a:pPr>
            <a:r>
              <a:rPr sz="1700" b="0">
                <a:solidFill>
                  <a:srgbClr val="1A1A1A"/>
                </a:solidFill>
                <a:latin typeface="Calibri"/>
              </a:rPr>
              <a:t>•  Chemists can only explore a tiny fraction of possible chemical space by hand.</a:t>
            </a:r>
          </a:p>
          <a:p>
            <a:pPr>
              <a:lnSpc>
                <a:spcPct val="108000"/>
              </a:lnSpc>
              <a:spcAft>
                <a:spcPts val="1600"/>
              </a:spcAft>
            </a:pPr>
            <a:r>
              <a:rPr sz="1700" b="0">
                <a:solidFill>
                  <a:srgbClr val="1A1A1A"/>
                </a:solidFill>
                <a:latin typeface="Calibri"/>
              </a:rPr>
              <a:t>•  Each dead-end candidate consumes time, lab resources, and budget.</a:t>
            </a:r>
          </a:p>
          <a:p>
            <a:pPr>
              <a:lnSpc>
                <a:spcPct val="108000"/>
              </a:lnSpc>
              <a:spcAft>
                <a:spcPts val="1600"/>
              </a:spcAft>
            </a:pPr>
            <a:r>
              <a:rPr sz="1700" b="0">
                <a:solidFill>
                  <a:srgbClr val="1A1A1A"/>
                </a:solidFill>
                <a:latin typeface="Calibri"/>
              </a:rPr>
              <a:t>•  Teams need novel, viable starting points — faster and at lower cost.</a:t>
            </a:r>
          </a:p>
        </p:txBody>
      </p:sp>
      <p:sp>
        <p:nvSpPr>
          <p:cNvPr id="6" name="Rectangle 5"/>
          <p:cNvSpPr/>
          <p:nvPr/>
        </p:nvSpPr>
        <p:spPr>
          <a:xfrm>
            <a:off x="7406640" y="1554480"/>
            <a:ext cx="4297680" cy="4023360"/>
          </a:xfrm>
          <a:prstGeom prst="rect">
            <a:avLst/>
          </a:prstGeom>
          <a:solidFill>
            <a:srgbClr val="F2F4F5"/>
          </a:solidFill>
          <a:ln w="12700">
            <a:solidFill>
              <a:srgbClr val="B886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635240" y="1828800"/>
            <a:ext cx="384048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1400"/>
              </a:spcAft>
            </a:pPr>
            <a:r>
              <a:rPr sz="1600" b="1">
                <a:solidFill>
                  <a:srgbClr val="B8860B"/>
                </a:solidFill>
                <a:latin typeface="Calibri"/>
              </a:rPr>
              <a:t>Why it matters</a:t>
            </a:r>
          </a:p>
          <a:p>
            <a:pPr algn="l">
              <a:lnSpc>
                <a:spcPct val="105000"/>
              </a:lnSpc>
              <a:spcAft>
                <a:spcPts val="14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Early-stage ideation is a major bottleneck in the discovery timeline.</a:t>
            </a:r>
          </a:p>
          <a:p>
            <a:pPr algn="l">
              <a:lnSpc>
                <a:spcPct val="105000"/>
              </a:lnSpc>
              <a:spcAft>
                <a:spcPts val="14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Compressing it means more shots on goal, sooner — with the same team.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900" b="0">
                <a:solidFill>
                  <a:srgbClr val="555555"/>
                </a:solidFill>
                <a:latin typeface="Calibri"/>
              </a:rPr>
              <a:t>GenMol for Molecular Design · Business Overview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46520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Aft>
                <a:spcPts val="600"/>
              </a:spcAft>
            </a:pPr>
            <a:r>
              <a:rPr sz="900" b="1">
                <a:solidFill>
                  <a:srgbClr val="555555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556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1">
                <a:solidFill>
                  <a:srgbClr val="76B900"/>
                </a:solidFill>
                <a:latin typeface="Calibri"/>
              </a:rPr>
              <a:t>THE OPPORTUNITY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The Opportunity: Generative AI for Chemistry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63040"/>
            <a:ext cx="111556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600"/>
              </a:spcAft>
            </a:pPr>
            <a:r>
              <a:rPr sz="1700" b="1">
                <a:solidFill>
                  <a:srgbClr val="1A1A1A"/>
                </a:solidFill>
                <a:latin typeface="Calibri"/>
              </a:rPr>
              <a:t>•  Generative models can propose brand-new, viable molecules on demand.</a:t>
            </a:r>
          </a:p>
          <a:p>
            <a:pPr>
              <a:lnSpc>
                <a:spcPct val="108000"/>
              </a:lnSpc>
              <a:spcAft>
                <a:spcPts val="1600"/>
              </a:spcAft>
            </a:pPr>
            <a:r>
              <a:rPr sz="1700" b="0">
                <a:solidFill>
                  <a:srgbClr val="1A1A1A"/>
                </a:solidFill>
                <a:latin typeface="Calibri"/>
              </a:rPr>
              <a:t>•  Explore vastly more of chemical space than manual design allows.</a:t>
            </a:r>
          </a:p>
          <a:p>
            <a:pPr>
              <a:lnSpc>
                <a:spcPct val="108000"/>
              </a:lnSpc>
              <a:spcAft>
                <a:spcPts val="1600"/>
              </a:spcAft>
            </a:pPr>
            <a:r>
              <a:rPr sz="1700" b="0">
                <a:solidFill>
                  <a:srgbClr val="1A1A1A"/>
                </a:solidFill>
                <a:latin typeface="Calibri"/>
              </a:rPr>
              <a:t>•  Steer generation toward the chemistry you care about (your target domain).</a:t>
            </a:r>
          </a:p>
          <a:p>
            <a:pPr>
              <a:lnSpc>
                <a:spcPct val="108000"/>
              </a:lnSpc>
              <a:spcAft>
                <a:spcPts val="1600"/>
              </a:spcAft>
            </a:pPr>
            <a:r>
              <a:rPr sz="1700" b="0">
                <a:solidFill>
                  <a:srgbClr val="1A1A1A"/>
                </a:solidFill>
                <a:latin typeface="Calibri"/>
              </a:rPr>
              <a:t>•  Turn early ideation from a slow bottleneck into an on-demand capability.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5074920"/>
            <a:ext cx="11201400" cy="100584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5074920"/>
            <a:ext cx="1120140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NVIDIA GenMol is a pretrained generative model for molecules — we adapt it to a specific domain and put it to work.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900" b="0">
                <a:solidFill>
                  <a:srgbClr val="555555"/>
                </a:solidFill>
                <a:latin typeface="Calibri"/>
              </a:rPr>
              <a:t>GenMol for Molecular Design · Business Overview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46520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Aft>
                <a:spcPts val="600"/>
              </a:spcAft>
            </a:pPr>
            <a:r>
              <a:rPr sz="900" b="1">
                <a:solidFill>
                  <a:srgbClr val="555555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556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1">
                <a:solidFill>
                  <a:srgbClr val="76B900"/>
                </a:solidFill>
                <a:latin typeface="Calibri"/>
              </a:rPr>
              <a:t>THE CAPABILITY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More Than One Trick — What GenMol Can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417320"/>
            <a:ext cx="3520440" cy="1874519"/>
          </a:xfrm>
          <a:prstGeom prst="rect">
            <a:avLst/>
          </a:prstGeom>
          <a:solidFill>
            <a:srgbClr val="F2F4F5"/>
          </a:solidFill>
          <a:ln w="12700">
            <a:solidFill>
              <a:srgbClr val="76B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1554480"/>
            <a:ext cx="35204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700" b="1">
                <a:solidFill>
                  <a:srgbClr val="76B900"/>
                </a:solidFill>
                <a:latin typeface="Calibri"/>
              </a:rPr>
              <a:t>De novo design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194560"/>
            <a:ext cx="315468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Invent brand-new</a:t>
            </a:r>
          </a:p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molecules from scratch</a:t>
            </a:r>
          </a:p>
        </p:txBody>
      </p:sp>
      <p:sp>
        <p:nvSpPr>
          <p:cNvPr id="8" name="Rectangle 7"/>
          <p:cNvSpPr/>
          <p:nvPr/>
        </p:nvSpPr>
        <p:spPr>
          <a:xfrm>
            <a:off x="4224528" y="1417320"/>
            <a:ext cx="3520440" cy="1874519"/>
          </a:xfrm>
          <a:prstGeom prst="rect">
            <a:avLst/>
          </a:prstGeom>
          <a:solidFill>
            <a:srgbClr val="F2F4F5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224528" y="1554480"/>
            <a:ext cx="35204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700" b="1">
                <a:solidFill>
                  <a:srgbClr val="1F4E79"/>
                </a:solidFill>
                <a:latin typeface="Calibri"/>
              </a:rPr>
              <a:t>Scaffold decoration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07408" y="2194560"/>
            <a:ext cx="315468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Grow R-groups on a</a:t>
            </a:r>
          </a:p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fixed core structure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946136" y="1417320"/>
            <a:ext cx="3520440" cy="1874519"/>
          </a:xfrm>
          <a:prstGeom prst="rect">
            <a:avLst/>
          </a:prstGeom>
          <a:solidFill>
            <a:srgbClr val="F2F4F5"/>
          </a:solidFill>
          <a:ln w="12700">
            <a:solidFill>
              <a:srgbClr val="B886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946136" y="1554480"/>
            <a:ext cx="35204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700" b="1">
                <a:solidFill>
                  <a:srgbClr val="B8860B"/>
                </a:solidFill>
                <a:latin typeface="Calibri"/>
              </a:rPr>
              <a:t>Linker design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29015" y="2194560"/>
            <a:ext cx="315468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Connect two fragments</a:t>
            </a:r>
          </a:p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into one molecule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3520440"/>
            <a:ext cx="3520440" cy="1874519"/>
          </a:xfrm>
          <a:prstGeom prst="rect">
            <a:avLst/>
          </a:prstGeom>
          <a:solidFill>
            <a:srgbClr val="F2F4F5"/>
          </a:solidFill>
          <a:ln w="12700">
            <a:solidFill>
              <a:srgbClr val="6A1B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2920" y="3657600"/>
            <a:ext cx="35204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700" b="1">
                <a:solidFill>
                  <a:srgbClr val="6A1B9A"/>
                </a:solidFill>
                <a:latin typeface="Calibri"/>
              </a:rPr>
              <a:t>Motif extension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4297680"/>
            <a:ext cx="315468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Build outward from a</a:t>
            </a:r>
          </a:p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known active motif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24528" y="3520440"/>
            <a:ext cx="3520440" cy="1874519"/>
          </a:xfrm>
          <a:prstGeom prst="rect">
            <a:avLst/>
          </a:prstGeom>
          <a:solidFill>
            <a:srgbClr val="F2F4F5"/>
          </a:solidFill>
          <a:ln w="1270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224528" y="3657600"/>
            <a:ext cx="35204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700" b="1">
                <a:solidFill>
                  <a:srgbClr val="C0392B"/>
                </a:solidFill>
                <a:latin typeface="Calibri"/>
              </a:rPr>
              <a:t>Lead optimization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07408" y="4297680"/>
            <a:ext cx="315468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Improve a molecule while</a:t>
            </a:r>
          </a:p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keeping it similar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946136" y="3520440"/>
            <a:ext cx="3520440" cy="1874519"/>
          </a:xfrm>
          <a:prstGeom prst="rect">
            <a:avLst/>
          </a:prstGeom>
          <a:solidFill>
            <a:srgbClr val="F2F4F5"/>
          </a:solidFill>
          <a:ln w="12700">
            <a:solidFill>
              <a:srgbClr val="0083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946136" y="3657600"/>
            <a:ext cx="35204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700" b="1">
                <a:solidFill>
                  <a:srgbClr val="00838F"/>
                </a:solidFill>
                <a:latin typeface="Calibri"/>
              </a:rPr>
              <a:t>Goal-directed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29015" y="4297680"/>
            <a:ext cx="315468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Steer toward property</a:t>
            </a:r>
          </a:p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targets (potency, QED…)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5623560"/>
            <a:ext cx="11155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1">
                <a:solidFill>
                  <a:srgbClr val="1A1A1A"/>
                </a:solidFill>
                <a:latin typeface="Calibri"/>
              </a:rPr>
              <a:t>One model spans the whole hit-to-lead workflow — published validity ~100% and novelty ~90% on de novo generation.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446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900" b="0">
                <a:solidFill>
                  <a:srgbClr val="555555"/>
                </a:solidFill>
                <a:latin typeface="Calibri"/>
              </a:rPr>
              <a:t>GenMol for Molecular Design · Business Overview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89920" y="6446520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Aft>
                <a:spcPts val="600"/>
              </a:spcAft>
            </a:pPr>
            <a:r>
              <a:rPr sz="900" b="1">
                <a:solidFill>
                  <a:srgbClr val="555555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556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1">
                <a:solidFill>
                  <a:srgbClr val="76B900"/>
                </a:solidFill>
                <a:latin typeface="Calibri"/>
              </a:rPr>
              <a:t>THE CASE FOR FINE-TUNING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Why Not Just Use It Off-the-Shelf?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417320"/>
            <a:ext cx="5394960" cy="4206240"/>
          </a:xfrm>
          <a:prstGeom prst="rect">
            <a:avLst/>
          </a:prstGeom>
          <a:solidFill>
            <a:srgbClr val="F2F4F5"/>
          </a:solidFill>
          <a:ln w="12700">
            <a:solidFill>
              <a:srgbClr val="B886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4937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800" b="1">
                <a:solidFill>
                  <a:srgbClr val="B8860B"/>
                </a:solidFill>
                <a:latin typeface="Calibri"/>
              </a:rPr>
              <a:t>Off-the-shelf 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86000"/>
            <a:ext cx="49377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•  A generalist trained on broad, generic chemistry</a:t>
            </a:r>
          </a:p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•  Generates good molecules — but not your molecules</a:t>
            </a:r>
          </a:p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•  No knowledge of your target domain or objectives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9360" y="1417320"/>
            <a:ext cx="5394960" cy="4206240"/>
          </a:xfrm>
          <a:prstGeom prst="rect">
            <a:avLst/>
          </a:prstGeom>
          <a:solidFill>
            <a:srgbClr val="F2F4F5"/>
          </a:solidFill>
          <a:ln w="12700">
            <a:solidFill>
              <a:srgbClr val="76B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537960" y="1645920"/>
            <a:ext cx="4937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800" b="1">
                <a:solidFill>
                  <a:srgbClr val="76B900"/>
                </a:solidFill>
                <a:latin typeface="Calibri"/>
              </a:rPr>
              <a:t>Fine-tuned on your 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7960" y="2286000"/>
            <a:ext cx="49377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•  Keeps the base model's broad chemical knowledge</a:t>
            </a:r>
          </a:p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•  Adds focus on your target chemistry — measurably</a:t>
            </a:r>
          </a:p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•  Our PoC moved output +43% closer to the target domain</a:t>
            </a:r>
          </a:p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•  Adapts in hours on 1 GPU — no training from scratch (8 GPUs)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46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900" b="0">
                <a:solidFill>
                  <a:srgbClr val="555555"/>
                </a:solidFill>
                <a:latin typeface="Calibri"/>
              </a:rPr>
              <a:t>GenMol for Molecular Design · Business Overview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0" y="6446520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Aft>
                <a:spcPts val="600"/>
              </a:spcAft>
            </a:pPr>
            <a:r>
              <a:rPr sz="900" b="1">
                <a:solidFill>
                  <a:srgbClr val="555555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556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1">
                <a:solidFill>
                  <a:srgbClr val="76B900"/>
                </a:solidFill>
                <a:latin typeface="Calibri"/>
              </a:rPr>
              <a:t>HOW IT WORKS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Our Approach — A Repeatable Method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920240"/>
            <a:ext cx="3383280" cy="2194560"/>
          </a:xfrm>
          <a:prstGeom prst="rect">
            <a:avLst/>
          </a:prstGeom>
          <a:solidFill>
            <a:srgbClr val="F2F4F5"/>
          </a:solidFill>
          <a:ln w="12700">
            <a:solidFill>
              <a:srgbClr val="76B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1920240"/>
            <a:ext cx="3383280" cy="594360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938528"/>
            <a:ext cx="338328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1 · Prepare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2743200"/>
            <a:ext cx="30175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Clean and structure a</a:t>
            </a:r>
          </a:p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target molecular dataset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0" y="1920240"/>
            <a:ext cx="3383280" cy="2194560"/>
          </a:xfrm>
          <a:prstGeom prst="rect">
            <a:avLst/>
          </a:prstGeom>
          <a:solidFill>
            <a:srgbClr val="F2F4F5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297680" y="1920240"/>
            <a:ext cx="3383280" cy="59436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297680" y="1938528"/>
            <a:ext cx="338328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2 · Fine-tune Model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2743200"/>
            <a:ext cx="30175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Adapt NVIDIA GenMol to</a:t>
            </a:r>
          </a:p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the target chemistry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55279" y="1920240"/>
            <a:ext cx="3383280" cy="2194560"/>
          </a:xfrm>
          <a:prstGeom prst="rect">
            <a:avLst/>
          </a:prstGeom>
          <a:solidFill>
            <a:srgbClr val="F2F4F5"/>
          </a:solidFill>
          <a:ln w="12700">
            <a:solidFill>
              <a:srgbClr val="B886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955279" y="1920240"/>
            <a:ext cx="3383280" cy="594360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955279" y="1938528"/>
            <a:ext cx="338328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3 · Generate &amp; Evaluate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58" y="2743200"/>
            <a:ext cx="30175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Produce new molecules and</a:t>
            </a:r>
          </a:p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measure quality objectively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4663440"/>
            <a:ext cx="1115568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00" b="1">
                <a:solidFill>
                  <a:srgbClr val="1F4E79"/>
                </a:solidFill>
                <a:latin typeface="Calibri"/>
              </a:rPr>
              <a:t>Disciplined and reproducible: </a:t>
            </a:r>
            <a:r>
              <a:rPr sz="1500" b="0">
                <a:solidFill>
                  <a:srgbClr val="1A1A1A"/>
                </a:solidFill>
                <a:latin typeface="Calibri"/>
              </a:rPr>
              <a:t>every run is seeded, tracked, and automatable — the same method applies to any dataset or objective.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446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900" b="0">
                <a:solidFill>
                  <a:srgbClr val="555555"/>
                </a:solidFill>
                <a:latin typeface="Calibri"/>
              </a:rPr>
              <a:t>GenMol for Molecular Design · Business Overview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89920" y="6446520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Aft>
                <a:spcPts val="600"/>
              </a:spcAft>
            </a:pPr>
            <a:r>
              <a:rPr sz="900" b="1">
                <a:solidFill>
                  <a:srgbClr val="555555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556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1">
                <a:solidFill>
                  <a:srgbClr val="76B900"/>
                </a:solidFill>
                <a:latin typeface="Calibri"/>
              </a:rPr>
              <a:t>THE DATA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What We Trained 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417320"/>
            <a:ext cx="5394960" cy="4114800"/>
          </a:xfrm>
          <a:prstGeom prst="rect">
            <a:avLst/>
          </a:prstGeom>
          <a:solidFill>
            <a:srgbClr val="F2F4F5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4937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800" b="1">
                <a:solidFill>
                  <a:srgbClr val="1F4E79"/>
                </a:solidFill>
                <a:latin typeface="Calibri"/>
              </a:rPr>
              <a:t>Base model (by NVIDIA)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86000"/>
            <a:ext cx="49377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•  Pretrained on a large public drug-like molecule corpus</a:t>
            </a:r>
          </a:p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•  Encodes broad, general chemical knowledge</a:t>
            </a:r>
          </a:p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•  Trained once by NVIDIA on 8 GPUs — we reuse it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9360" y="1417320"/>
            <a:ext cx="5394960" cy="4114800"/>
          </a:xfrm>
          <a:prstGeom prst="rect">
            <a:avLst/>
          </a:prstGeom>
          <a:solidFill>
            <a:srgbClr val="F2F4F5"/>
          </a:solidFill>
          <a:ln w="12700">
            <a:solidFill>
              <a:srgbClr val="76B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537960" y="1645920"/>
            <a:ext cx="4937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800" b="1">
                <a:solidFill>
                  <a:srgbClr val="76B900"/>
                </a:solidFill>
                <a:latin typeface="Calibri"/>
              </a:rPr>
              <a:t>Our fine-tuning 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7960" y="2286000"/>
            <a:ext cx="49377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•  Delaney / ESOL — 1,056 curated drug-like molecules</a:t>
            </a:r>
          </a:p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•  Split into 951 train / 105 held-out for honest evaluation</a:t>
            </a:r>
          </a:p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•  Used only the molecular structures — our target domain</a:t>
            </a:r>
          </a:p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•  A public stand-in for the customer's proprietary dataset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5715000"/>
            <a:ext cx="11155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400" b="1">
                <a:solidFill>
                  <a:srgbClr val="1A1A1A"/>
                </a:solidFill>
                <a:latin typeface="Calibri"/>
              </a:rPr>
              <a:t>A broad generalist, focused on a specific chemistry — on a single GPU.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46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900" b="0">
                <a:solidFill>
                  <a:srgbClr val="555555"/>
                </a:solidFill>
                <a:latin typeface="Calibri"/>
              </a:rPr>
              <a:t>GenMol for Molecular Design · Business Overview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0" y="6446520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Aft>
                <a:spcPts val="600"/>
              </a:spcAft>
            </a:pPr>
            <a:r>
              <a:rPr sz="900" b="1">
                <a:solidFill>
                  <a:srgbClr val="555555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556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1">
                <a:solidFill>
                  <a:srgbClr val="76B900"/>
                </a:solidFill>
                <a:latin typeface="Calibri"/>
              </a:rPr>
              <a:t>SETTING THE BAR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What Success Looks Like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2606040" cy="2468880"/>
          </a:xfrm>
          <a:prstGeom prst="rect">
            <a:avLst/>
          </a:prstGeom>
          <a:solidFill>
            <a:srgbClr val="F2F4F5"/>
          </a:solidFill>
          <a:ln w="12700">
            <a:solidFill>
              <a:srgbClr val="76B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965960"/>
            <a:ext cx="26060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2200" b="1">
                <a:solidFill>
                  <a:srgbClr val="76B900"/>
                </a:solidFill>
                <a:latin typeface="Calibri"/>
              </a:rPr>
              <a:t>Valid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788920"/>
            <a:ext cx="23317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Chemically real,</a:t>
            </a:r>
          </a:p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usable molecules</a:t>
            </a:r>
          </a:p>
        </p:txBody>
      </p:sp>
      <p:sp>
        <p:nvSpPr>
          <p:cNvPr id="8" name="Rectangle 7"/>
          <p:cNvSpPr/>
          <p:nvPr/>
        </p:nvSpPr>
        <p:spPr>
          <a:xfrm>
            <a:off x="3429000" y="1737360"/>
            <a:ext cx="2606040" cy="2468880"/>
          </a:xfrm>
          <a:prstGeom prst="rect">
            <a:avLst/>
          </a:prstGeom>
          <a:solidFill>
            <a:srgbClr val="F2F4F5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429000" y="1965960"/>
            <a:ext cx="26060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2200" b="1">
                <a:solidFill>
                  <a:srgbClr val="1F4E79"/>
                </a:solidFill>
                <a:latin typeface="Calibri"/>
              </a:rPr>
              <a:t>Novel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2788920"/>
            <a:ext cx="23317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Genuinely new —</a:t>
            </a:r>
          </a:p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not copies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737360"/>
            <a:ext cx="2606040" cy="2468880"/>
          </a:xfrm>
          <a:prstGeom prst="rect">
            <a:avLst/>
          </a:prstGeom>
          <a:solidFill>
            <a:srgbClr val="F2F4F5"/>
          </a:solidFill>
          <a:ln w="12700">
            <a:solidFill>
              <a:srgbClr val="B886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217920" y="1965960"/>
            <a:ext cx="26060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2200" b="1">
                <a:solidFill>
                  <a:srgbClr val="B8860B"/>
                </a:solidFill>
                <a:latin typeface="Calibri"/>
              </a:rPr>
              <a:t>Drug-like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2788920"/>
            <a:ext cx="23317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Viable candidate</a:t>
            </a:r>
          </a:p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properties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006840" y="1737360"/>
            <a:ext cx="2606040" cy="2468880"/>
          </a:xfrm>
          <a:prstGeom prst="rect">
            <a:avLst/>
          </a:prstGeom>
          <a:solidFill>
            <a:srgbClr val="F2F4F5"/>
          </a:solidFill>
          <a:ln w="12700">
            <a:solidFill>
              <a:srgbClr val="6A1B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006840" y="1965960"/>
            <a:ext cx="26060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2200" b="1">
                <a:solidFill>
                  <a:srgbClr val="6A1B9A"/>
                </a:solidFill>
                <a:latin typeface="Calibri"/>
              </a:rPr>
              <a:t>On-domain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0" y="2788920"/>
            <a:ext cx="23317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Aligned to the</a:t>
            </a:r>
          </a:p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target chemistry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4709160"/>
            <a:ext cx="111556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We agreed these criteria up front and measured every one — so results are judged objectively, not by eye.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446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900" b="0">
                <a:solidFill>
                  <a:srgbClr val="555555"/>
                </a:solidFill>
                <a:latin typeface="Calibri"/>
              </a:rPr>
              <a:t>GenMol for Molecular Design · Business Overview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89920" y="6446520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Aft>
                <a:spcPts val="600"/>
              </a:spcAft>
            </a:pPr>
            <a:r>
              <a:rPr sz="900" b="1">
                <a:solidFill>
                  <a:srgbClr val="555555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556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1">
                <a:solidFill>
                  <a:srgbClr val="76B900"/>
                </a:solidFill>
                <a:latin typeface="Calibri"/>
              </a:rPr>
              <a:t>PROOF POINT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The Results — It Works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63040"/>
            <a:ext cx="3383280" cy="1737360"/>
          </a:xfrm>
          <a:prstGeom prst="rect">
            <a:avLst/>
          </a:prstGeom>
          <a:solidFill>
            <a:srgbClr val="F2F4F5"/>
          </a:solidFill>
          <a:ln w="12700">
            <a:solidFill>
              <a:srgbClr val="76B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691640"/>
            <a:ext cx="33832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4000" b="1">
                <a:solidFill>
                  <a:srgbClr val="76B900"/>
                </a:solidFill>
                <a:latin typeface="Calibri"/>
              </a:rPr>
              <a:t>97.5%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514600"/>
            <a:ext cx="31089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of generated molecules are chemically valid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0" y="1463040"/>
            <a:ext cx="3383280" cy="1737360"/>
          </a:xfrm>
          <a:prstGeom prst="rect">
            <a:avLst/>
          </a:prstGeom>
          <a:solidFill>
            <a:srgbClr val="F2F4F5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389120" y="1691640"/>
            <a:ext cx="33832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4000" b="1">
                <a:solidFill>
                  <a:srgbClr val="1F4E79"/>
                </a:solidFill>
                <a:latin typeface="Calibri"/>
              </a:rPr>
              <a:t>85%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6280" y="2514600"/>
            <a:ext cx="31089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are genuinely novel — new molecules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38160" y="1463040"/>
            <a:ext cx="3383280" cy="1737360"/>
          </a:xfrm>
          <a:prstGeom prst="rect">
            <a:avLst/>
          </a:prstGeom>
          <a:solidFill>
            <a:srgbClr val="F2F4F5"/>
          </a:solidFill>
          <a:ln w="12700">
            <a:solidFill>
              <a:srgbClr val="B886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138160" y="1691640"/>
            <a:ext cx="33832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4000" b="1">
                <a:solidFill>
                  <a:srgbClr val="B8860B"/>
                </a:solidFill>
                <a:latin typeface="Calibri"/>
              </a:rPr>
              <a:t>+43%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75320" y="2514600"/>
            <a:ext cx="31089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closer to the target chemistry (similarity)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657600"/>
            <a:ext cx="108813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•  More of the output is drug-like (drug-like fraction rose from 34% to 42%).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•  The model measurably learned the target chemistry — its output moved toward the desired molecules.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500" b="1">
                <a:solidFill>
                  <a:srgbClr val="1A1A1A"/>
                </a:solidFill>
                <a:latin typeface="Calibri"/>
              </a:rPr>
              <a:t>•  All achieved while keeping quality high — a successful, credible adaptation.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46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900" b="0">
                <a:solidFill>
                  <a:srgbClr val="555555"/>
                </a:solidFill>
                <a:latin typeface="Calibri"/>
              </a:rPr>
              <a:t>GenMol for Molecular Design · Business Overview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89920" y="6446520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Aft>
                <a:spcPts val="600"/>
              </a:spcAft>
            </a:pPr>
            <a:r>
              <a:rPr sz="900" b="1">
                <a:solidFill>
                  <a:srgbClr val="555555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556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1">
                <a:solidFill>
                  <a:srgbClr val="76B900"/>
                </a:solidFill>
                <a:latin typeface="Calibri"/>
              </a:rPr>
              <a:t>SEE IT FOR YOURSELF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Molecules the Model Invented</a:t>
            </a:r>
          </a:p>
        </p:txBody>
      </p:sp>
      <p:pic>
        <p:nvPicPr>
          <p:cNvPr id="5" name="Picture 4" descr="image_generated_exp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865120"/>
            <a:ext cx="6766560" cy="11277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680960" y="1828800"/>
            <a:ext cx="4114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500" b="1">
                <a:solidFill>
                  <a:srgbClr val="1A1A1A"/>
                </a:solidFill>
                <a:latin typeface="Calibri"/>
              </a:rPr>
              <a:t>•  These are new, valid, drug-like structures the model created.</a:t>
            </a:r>
          </a:p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•  None are copied from the training data.</a:t>
            </a:r>
          </a:p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•  Each scores well on drug-likeness and ease of synthesis.</a:t>
            </a:r>
          </a:p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•  This is the tangible output a discovery team would triage.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900" b="0">
                <a:solidFill>
                  <a:srgbClr val="555555"/>
                </a:solidFill>
                <a:latin typeface="Calibri"/>
              </a:rPr>
              <a:t>GenMol for Molecular Design · Business Overview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46520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Aft>
                <a:spcPts val="600"/>
              </a:spcAft>
            </a:pPr>
            <a:r>
              <a:rPr sz="900" b="1">
                <a:solidFill>
                  <a:srgbClr val="555555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556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1">
                <a:solidFill>
                  <a:srgbClr val="76B900"/>
                </a:solidFill>
                <a:latin typeface="Calibri"/>
              </a:rPr>
              <a:t>COST &amp; OPERATIONS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Efficient and Ready to Scale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63040"/>
            <a:ext cx="3383280" cy="1737360"/>
          </a:xfrm>
          <a:prstGeom prst="rect">
            <a:avLst/>
          </a:prstGeom>
          <a:solidFill>
            <a:srgbClr val="F2F4F5"/>
          </a:solidFill>
          <a:ln w="12700">
            <a:solidFill>
              <a:srgbClr val="76B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691640"/>
            <a:ext cx="33832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4000" b="1">
                <a:solidFill>
                  <a:srgbClr val="76B900"/>
                </a:solidFill>
                <a:latin typeface="Calibri"/>
              </a:rPr>
              <a:t>1 GPU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514600"/>
            <a:ext cx="31089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ran on a single NVIDIA A100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0" y="1463040"/>
            <a:ext cx="3383280" cy="1737360"/>
          </a:xfrm>
          <a:prstGeom prst="rect">
            <a:avLst/>
          </a:prstGeom>
          <a:solidFill>
            <a:srgbClr val="F2F4F5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389120" y="1691640"/>
            <a:ext cx="33832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4000" b="1">
                <a:solidFill>
                  <a:srgbClr val="1F4E79"/>
                </a:solidFill>
                <a:latin typeface="Calibri"/>
              </a:rPr>
              <a:t>Slurm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6280" y="2514600"/>
            <a:ext cx="31089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standard cluster scheduling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38160" y="1463040"/>
            <a:ext cx="3383280" cy="1737360"/>
          </a:xfrm>
          <a:prstGeom prst="rect">
            <a:avLst/>
          </a:prstGeom>
          <a:solidFill>
            <a:srgbClr val="F2F4F5"/>
          </a:solidFill>
          <a:ln w="12700">
            <a:solidFill>
              <a:srgbClr val="B886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138160" y="1691640"/>
            <a:ext cx="33832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4000" b="1">
                <a:solidFill>
                  <a:srgbClr val="B8860B"/>
                </a:solidFill>
                <a:latin typeface="Calibri"/>
              </a:rPr>
              <a:t>Repeatable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75320" y="2514600"/>
            <a:ext cx="31089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seeded, tracked, automatable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657600"/>
            <a:ext cx="108813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•  Modest, standard infrastructure — cost-efficient to run and easy to budget.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•  Scales cleanly to larger datasets and automated experiment sweeps.</a:t>
            </a:r>
          </a:p>
          <a:p>
            <a:pPr>
              <a:lnSpc>
                <a:spcPct val="108000"/>
              </a:lnSpc>
              <a:spcAft>
                <a:spcPts val="1200"/>
              </a:spcAft>
            </a:pPr>
            <a:r>
              <a:rPr sz="1500" b="1">
                <a:solidFill>
                  <a:srgbClr val="1A1A1A"/>
                </a:solidFill>
                <a:latin typeface="Calibri"/>
              </a:rPr>
              <a:t>•  Every run is tracked and reproducible — no black-box, no vendor lock-in surprises.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46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900" b="0">
                <a:solidFill>
                  <a:srgbClr val="555555"/>
                </a:solidFill>
                <a:latin typeface="Calibri"/>
              </a:rPr>
              <a:t>GenMol for Molecular Design · Business Overview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89920" y="6446520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Aft>
                <a:spcPts val="600"/>
              </a:spcAft>
            </a:pPr>
            <a:r>
              <a:rPr sz="900" b="1">
                <a:solidFill>
                  <a:srgbClr val="555555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556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1">
                <a:solidFill>
                  <a:srgbClr val="76B900"/>
                </a:solidFill>
                <a:latin typeface="Calibri"/>
              </a:rPr>
              <a:t>WHY YOU CAN TRUST IT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A Credible Study, Not a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63040"/>
            <a:ext cx="111556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600"/>
              </a:spcAft>
            </a:pPr>
            <a:r>
              <a:rPr sz="1700" b="1">
                <a:solidFill>
                  <a:srgbClr val="1A1A1A"/>
                </a:solidFill>
                <a:latin typeface="Calibri"/>
              </a:rPr>
              <a:t>•  We measured real trade-offs, not just the wins.</a:t>
            </a:r>
          </a:p>
          <a:p>
            <a:pPr>
              <a:lnSpc>
                <a:spcPct val="108000"/>
              </a:lnSpc>
              <a:spcAft>
                <a:spcPts val="1600"/>
              </a:spcAft>
            </a:pPr>
            <a:r>
              <a:rPr sz="1700" b="0">
                <a:solidFill>
                  <a:srgbClr val="1A1A1A"/>
                </a:solidFill>
                <a:latin typeface="Calibri"/>
              </a:rPr>
              <a:t>•  Specializing the model narrows its focus — a normal, tunable effect we quantified.</a:t>
            </a:r>
          </a:p>
          <a:p>
            <a:pPr>
              <a:lnSpc>
                <a:spcPct val="108000"/>
              </a:lnSpc>
              <a:spcAft>
                <a:spcPts val="1600"/>
              </a:spcAft>
            </a:pPr>
            <a:r>
              <a:rPr sz="1700" b="0">
                <a:solidFill>
                  <a:srgbClr val="1A1A1A"/>
                </a:solidFill>
                <a:latin typeface="Calibri"/>
              </a:rPr>
              <a:t>•  We validated on molecules the model never saw during training (held-out set).</a:t>
            </a:r>
          </a:p>
          <a:p>
            <a:pPr>
              <a:lnSpc>
                <a:spcPct val="108000"/>
              </a:lnSpc>
              <a:spcAft>
                <a:spcPts val="1600"/>
              </a:spcAft>
            </a:pPr>
            <a:r>
              <a:rPr sz="1700" b="0">
                <a:solidFill>
                  <a:srgbClr val="1A1A1A"/>
                </a:solidFill>
                <a:latin typeface="Calibri"/>
              </a:rPr>
              <a:t>•  Results are honest, reproducible, and backed by objective metrics.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5029200"/>
            <a:ext cx="11201400" cy="100584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5029200"/>
            <a:ext cx="1120140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This rigor is what separates a proof of concept from a demo — and what de-risks scaling 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900" b="0">
                <a:solidFill>
                  <a:srgbClr val="555555"/>
                </a:solidFill>
                <a:latin typeface="Calibri"/>
              </a:rPr>
              <a:t>GenMol for Molecular Design · Business Overview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46520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Aft>
                <a:spcPts val="600"/>
              </a:spcAft>
            </a:pPr>
            <a:r>
              <a:rPr sz="900" b="1">
                <a:solidFill>
                  <a:srgbClr val="555555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556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1">
                <a:solidFill>
                  <a:srgbClr val="76B900"/>
                </a:solidFill>
                <a:latin typeface="Calibri"/>
              </a:rPr>
              <a:t>STRAIGHT TALK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Known Limits — and How We Address Them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554480"/>
            <a:ext cx="5394960" cy="960120"/>
          </a:xfrm>
          <a:prstGeom prst="rect">
            <a:avLst/>
          </a:prstGeom>
          <a:solidFill>
            <a:srgbClr val="F2F4F5"/>
          </a:solidFill>
          <a:ln w="12700">
            <a:solidFill>
              <a:srgbClr val="B886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1645920"/>
            <a:ext cx="50292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00" b="1">
                <a:solidFill>
                  <a:srgbClr val="B8860B"/>
                </a:solidFill>
                <a:latin typeface="Calibri"/>
              </a:rPr>
              <a:t>Limitation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Broad, public dataset used</a:t>
            </a:r>
          </a:p>
        </p:txBody>
      </p:sp>
      <p:sp>
        <p:nvSpPr>
          <p:cNvPr id="7" name="Rectangle 6"/>
          <p:cNvSpPr/>
          <p:nvPr/>
        </p:nvSpPr>
        <p:spPr>
          <a:xfrm>
            <a:off x="6309360" y="1554480"/>
            <a:ext cx="5394960" cy="960120"/>
          </a:xfrm>
          <a:prstGeom prst="rect">
            <a:avLst/>
          </a:prstGeom>
          <a:solidFill>
            <a:srgbClr val="F2F4F5"/>
          </a:solidFill>
          <a:ln w="12700">
            <a:solidFill>
              <a:srgbClr val="76B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92240" y="1645920"/>
            <a:ext cx="50292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00" b="1">
                <a:solidFill>
                  <a:srgbClr val="76B900"/>
                </a:solidFill>
                <a:latin typeface="Calibri"/>
              </a:rPr>
              <a:t>How we address it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Your proprietary, focused data should give a sharper, more useful fit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2651760"/>
            <a:ext cx="5394960" cy="960120"/>
          </a:xfrm>
          <a:prstGeom prst="rect">
            <a:avLst/>
          </a:prstGeom>
          <a:solidFill>
            <a:srgbClr val="F2F4F5"/>
          </a:solidFill>
          <a:ln w="12700">
            <a:solidFill>
              <a:srgbClr val="B886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5800" y="2743200"/>
            <a:ext cx="50292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00" b="1">
                <a:solidFill>
                  <a:srgbClr val="B8860B"/>
                </a:solidFill>
                <a:latin typeface="Calibri"/>
              </a:rPr>
              <a:t>Limitation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Single evaluation run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2651760"/>
            <a:ext cx="5394960" cy="960120"/>
          </a:xfrm>
          <a:prstGeom prst="rect">
            <a:avLst/>
          </a:prstGeom>
          <a:solidFill>
            <a:srgbClr val="F2F4F5"/>
          </a:solidFill>
          <a:ln w="12700">
            <a:solidFill>
              <a:srgbClr val="76B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92240" y="2743200"/>
            <a:ext cx="50292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00" b="1">
                <a:solidFill>
                  <a:srgbClr val="76B900"/>
                </a:solidFill>
                <a:latin typeface="Calibri"/>
              </a:rPr>
              <a:t>How we address it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A pilot confirms results across multiple runs + an independent test set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3749039"/>
            <a:ext cx="5394960" cy="960120"/>
          </a:xfrm>
          <a:prstGeom prst="rect">
            <a:avLst/>
          </a:prstGeom>
          <a:solidFill>
            <a:srgbClr val="F2F4F5"/>
          </a:solidFill>
          <a:ln w="12700">
            <a:solidFill>
              <a:srgbClr val="B886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85800" y="3840479"/>
            <a:ext cx="50292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00" b="1">
                <a:solidFill>
                  <a:srgbClr val="B8860B"/>
                </a:solidFill>
                <a:latin typeface="Calibri"/>
              </a:rPr>
              <a:t>Limitation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Proxy chemistry measures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9360" y="3749039"/>
            <a:ext cx="5394960" cy="960120"/>
          </a:xfrm>
          <a:prstGeom prst="rect">
            <a:avLst/>
          </a:prstGeom>
          <a:solidFill>
            <a:srgbClr val="F2F4F5"/>
          </a:solidFill>
          <a:ln w="12700">
            <a:solidFill>
              <a:srgbClr val="76B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92240" y="3840479"/>
            <a:ext cx="50292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00" b="1">
                <a:solidFill>
                  <a:srgbClr val="76B900"/>
                </a:solidFill>
                <a:latin typeface="Calibri"/>
              </a:rPr>
              <a:t>How we address it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Add your real endpoints: potency, ADMET, synthesizability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4846319"/>
            <a:ext cx="5394960" cy="960120"/>
          </a:xfrm>
          <a:prstGeom prst="rect">
            <a:avLst/>
          </a:prstGeom>
          <a:solidFill>
            <a:srgbClr val="F2F4F5"/>
          </a:solidFill>
          <a:ln w="12700">
            <a:solidFill>
              <a:srgbClr val="B886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85800" y="4937758"/>
            <a:ext cx="50292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00" b="1">
                <a:solidFill>
                  <a:srgbClr val="B8860B"/>
                </a:solidFill>
                <a:latin typeface="Calibri"/>
              </a:rPr>
              <a:t>Limitation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Broad chemical domain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09360" y="4846319"/>
            <a:ext cx="5394960" cy="960120"/>
          </a:xfrm>
          <a:prstGeom prst="rect">
            <a:avLst/>
          </a:prstGeom>
          <a:solidFill>
            <a:srgbClr val="F2F4F5"/>
          </a:solidFill>
          <a:ln w="12700">
            <a:solidFill>
              <a:srgbClr val="76B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92240" y="4937758"/>
            <a:ext cx="50292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00" b="1">
                <a:solidFill>
                  <a:srgbClr val="76B900"/>
                </a:solidFill>
                <a:latin typeface="Calibri"/>
              </a:rPr>
              <a:t>How we address it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400" b="0">
                <a:solidFill>
                  <a:srgbClr val="1A1A1A"/>
                </a:solidFill>
                <a:latin typeface="Calibri"/>
              </a:rPr>
              <a:t>Target a specific series or objective for stronger, actionable results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446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900" b="0">
                <a:solidFill>
                  <a:srgbClr val="555555"/>
                </a:solidFill>
                <a:latin typeface="Calibri"/>
              </a:rPr>
              <a:t>GenMol for Molecular Design · Business Overview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89920" y="6446520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Aft>
                <a:spcPts val="600"/>
              </a:spcAft>
            </a:pPr>
            <a:r>
              <a:rPr sz="900" b="1">
                <a:solidFill>
                  <a:srgbClr val="555555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556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1">
                <a:solidFill>
                  <a:srgbClr val="76B900"/>
                </a:solidFill>
                <a:latin typeface="Calibri"/>
              </a:rPr>
              <a:t>YOUR OPPORTUNITY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What This Means for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63040"/>
            <a:ext cx="111556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600"/>
              </a:spcAft>
            </a:pPr>
            <a:r>
              <a:rPr sz="1700" b="1">
                <a:solidFill>
                  <a:srgbClr val="1A1A1A"/>
                </a:solidFill>
                <a:latin typeface="Calibri"/>
              </a:rPr>
              <a:t>•  The same pipeline runs on your proprietary data and your objectives.</a:t>
            </a:r>
          </a:p>
          <a:p>
            <a:pPr>
              <a:lnSpc>
                <a:spcPct val="108000"/>
              </a:lnSpc>
              <a:spcAft>
                <a:spcPts val="1600"/>
              </a:spcAft>
            </a:pPr>
            <a:r>
              <a:rPr sz="1700" b="0">
                <a:solidFill>
                  <a:srgbClr val="1A1A1A"/>
                </a:solidFill>
                <a:latin typeface="Calibri"/>
              </a:rPr>
              <a:t>•  Target your chemistry — potency, solubility, ADMET, or a specific series.</a:t>
            </a:r>
          </a:p>
          <a:p>
            <a:pPr>
              <a:lnSpc>
                <a:spcPct val="108000"/>
              </a:lnSpc>
              <a:spcAft>
                <a:spcPts val="1600"/>
              </a:spcAft>
            </a:pPr>
            <a:r>
              <a:rPr sz="1700" b="0">
                <a:solidFill>
                  <a:srgbClr val="1A1A1A"/>
                </a:solidFill>
                <a:latin typeface="Calibri"/>
              </a:rPr>
              <a:t>•  Generate novel candidate molecules on demand, evaluated against your criteria.</a:t>
            </a:r>
          </a:p>
          <a:p>
            <a:pPr>
              <a:lnSpc>
                <a:spcPct val="108000"/>
              </a:lnSpc>
              <a:spcAft>
                <a:spcPts val="1600"/>
              </a:spcAft>
            </a:pPr>
            <a:r>
              <a:rPr sz="1700" b="0">
                <a:solidFill>
                  <a:srgbClr val="1A1A1A"/>
                </a:solidFill>
                <a:latin typeface="Calibri"/>
              </a:rPr>
              <a:t>•  Built on NVIDIA infrastructure you can scale as needs grow.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5029200"/>
            <a:ext cx="11201400" cy="1005840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5029200"/>
            <a:ext cx="1120140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This proof of concept becomes your capability — applied to the molecules that matter to your business.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900" b="0">
                <a:solidFill>
                  <a:srgbClr val="555555"/>
                </a:solidFill>
                <a:latin typeface="Calibri"/>
              </a:rPr>
              <a:t>GenMol for Molecular Design · Business Overview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46520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Aft>
                <a:spcPts val="600"/>
              </a:spcAft>
            </a:pPr>
            <a:r>
              <a:rPr sz="900" b="1">
                <a:solidFill>
                  <a:srgbClr val="555555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371600"/>
            <a:ext cx="12191695" cy="54864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59436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3400" b="1">
                <a:solidFill>
                  <a:srgbClr val="FFFFFF"/>
                </a:solidFill>
                <a:latin typeface="Calibri"/>
              </a:rPr>
              <a:t>The Ask: A Scoped Pilot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700" b="1">
                <a:solidFill>
                  <a:srgbClr val="76B900"/>
                </a:solidFill>
                <a:latin typeface="Calibri"/>
              </a:rPr>
              <a:t>What we need from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86000"/>
            <a:ext cx="51206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•  A representative dataset for your target chemistry</a:t>
            </a:r>
          </a:p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•  Agreed success metrics</a:t>
            </a:r>
          </a:p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•  An executive sponsor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737360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700" b="1">
                <a:solidFill>
                  <a:srgbClr val="76B900"/>
                </a:solidFill>
                <a:latin typeface="Calibri"/>
              </a:rPr>
              <a:t>What you get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286000"/>
            <a:ext cx="51206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•  Domain-specific generated candidates</a:t>
            </a:r>
          </a:p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•  Objective evaluation against your criteria</a:t>
            </a:r>
          </a:p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•  A scalable capability on NVIDIA infrastructure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5577840"/>
            <a:ext cx="10515600" cy="777240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" y="5577840"/>
            <a:ext cx="105156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Next step: agree the dataset, metrics, and timeline — and start the pilot.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1240</Words>
  <Application>Microsoft Macintosh PowerPoint</Application>
  <PresentationFormat>Widescreen</PresentationFormat>
  <Paragraphs>188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Singh, Vibhas B</cp:lastModifiedBy>
  <cp:revision>2</cp:revision>
  <dcterms:created xsi:type="dcterms:W3CDTF">2013-01-27T09:14:16Z</dcterms:created>
  <dcterms:modified xsi:type="dcterms:W3CDTF">2026-09-07T07:01:46Z</dcterms:modified>
  <cp:category/>
</cp:coreProperties>
</file>