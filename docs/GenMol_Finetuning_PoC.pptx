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Fine-tuning NVIDIA GenMol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76B900"/>
                </a:solidFill>
                <a:latin typeface="Calibri"/>
              </a:rPr>
              <a:t>A Proof of Concept for Small-Molecule Design on Delaney / ESOL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Discrete-diffusion generation over SAFE sequences · One A100 GPU via Slurm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Objective: generate valid, novel, drug-like molecules aligned to the target chemical domain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76B900"/>
                </a:solidFill>
                <a:latin typeface="Calibri"/>
              </a:rPr>
              <a:t>Pipeline:  prepare  →  fine-tune  →  generate / evaluate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PROJECT OVERVIEW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Objective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Fine-tune the pretrained NVIDIA GenMol model on a focused small-molecule dataset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Evaluate whether it generates valid, novel, drug-like molecules aligned to the domain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Must run on one A100 GPU managed through Slurm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Emphasis is on approach, not accuracy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Source code + environment setup instructions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Slurm submission scripts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Data-preparation script + dataset description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Presentation: dataset &amp; preprocessing, fine-tuning config, base vs fine-tuned comparison, five example molecules, limitations,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APPROACH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Pipeline &amp;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611880" cy="237744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11880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· 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46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Canonicalize, validity-filter,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dedupe, drug-like bounds,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Bemis–Murcko scaffold split,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SMILES → SAFE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611880" cy="237744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61188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572768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· Fine-tune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246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Load pretrained GenMol + EMA,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lr 1e-4, up to 25 epochs,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validate every epoch,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select min val-loss best.ckpt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554480"/>
            <a:ext cx="3611880" cy="237744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554480"/>
            <a:ext cx="3611880" cy="5029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72768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· Generate /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3246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Base vs fine-tuned,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shared seeded length prior,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validity · novelty · QED · SA ·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diversity · similarity · FCD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Why these choices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Frozen, scaffold-disjoint split — validation scaffolds never appear in training; written once and reused.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Real validation — val.safe scored every epoch, averaging 4 diffusion-time samples to cut Monte-Carlo noise.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Controlled sampling — base and fine-tuned draw from the same seeded SAFE length prior, isolating token-level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EXTENSIONS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Beyond the Assignment — What This PoC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The brief asked for a fine-tuning run, Slurm scripts, data prep, and a presentation. This PoC also adds: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Scaffold-disjoint validation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Bemis–Murcko split keeps val scaffolds out of training; --split random fallback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Reliable checkpoint selection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Val every epoch, multi diffusion-time averaging, lowest-val-loss best.ckpt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Upstream loader-bug workaround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Scalar-indexed dataset instead of broken UserDataset; vendored GenMol untouched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Controlled generation lengths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Identical seeded SAFE-length draws isolate token-level changes from size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Expanded evaluation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FCD, nearest-val similarity, diversity, QED/MW/logP overlays, 5-molecule grid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Small-data regularization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--freeze-layers adapts only upper layers + MLM head, EMA-compatible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Hyperparameter sweep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Slurm array over freeze × lr; aggregate_sweep.py gates + ranks survivors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Offline experiment tracking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Per-run summary, loss history, checkpoint metadata, central run registry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Held-out generation metrics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Scaffold-held-out split drives val loss, selection, similarity, and FCD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Reproducibility controls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All stages seeded; deterministic Lightning where CUDA kernels allow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End-to-end V1 / V2 support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Checkpoint paths, SAFE mode, and sampling defaults switch together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•  Smoke-test path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  •  SMOKE=1 runs a short end-to-end check before a full A100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DELANEY / ESOL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Source: DeepChem Delaney (ESOL) aqueous-solubility dataset — 1,128 molecules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Uses only the SMILES column; solubility labels are not trained on or predicted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RDKit canonicalize → validity filter → dedupe → drug-like bounds (5–60 heavy atoms, MW ≤ 750) → SAFE encoding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Deterministic 90/10 Bemis–Murcko scaffold split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977639"/>
          <a:ext cx="5577839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Molecules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Raw records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1,128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Duplicates removed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Out-of-range removed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Final dataset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1,056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Train / 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951 / 105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3258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Domain descriptors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737360"/>
          <a:ext cx="5394959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Descriptor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Molecular weight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209 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68–589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logP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2.53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-7.6–10.4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QED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0.15–0.93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Rings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0–7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Heavy atoms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5–42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55080" y="3977639"/>
            <a:ext cx="5394960" cy="192024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4114800"/>
            <a:ext cx="5029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Nature of the domain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 broad, compact, low-MW, lead-like distribution — not a target-specific chemotype.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Domain alignment = movement in fingerprint / property distributions, not improved activity or solubility.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SETUP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Fine-tuning Configuration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731519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5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GenMol 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extended / bracket SAFE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Global batch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~14 optimizer steps / epoch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adapt without overwriting pretrained chemistry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Warmup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 steps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short warmup for small dataset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Max training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 epochs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cap ~375 optimizer steps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every epoch, 4 samples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stabilize val-loss ranking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Early stopping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patience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stop after 5 epochs w/o improvement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EMA decay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track short-run adaptation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Precision / HW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bf16 / 1 A100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target execution environment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092440" y="1325880"/>
            <a:ext cx="3611880" cy="379476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46304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Selection logic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Lowest val-loss EMA weights saved as best.ckpt and used for generation.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Baseline val-loss recorded before fitting as a step-zero reference.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Regularization option: --freeze-layers N adapts only upper layers + MLM head.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Upstream loader-bug workaround: scalar-indexed dataset, vendored GenMol 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EXPERIMENT 1 · FULL FINE-TUNING, LR 1E-4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Base vs Fine-tuned — Quantitative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20139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Fine-tuned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🟢 Preserved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Novelty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93.9%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85.0%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🟢 Strong novelty retained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69.0%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🟡 Main trade-off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Diversity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0.909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0.865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🟡 Slightly reduced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QED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0.572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0.664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🟡 Simplification, not alignment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SA score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2.394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1.765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🟡 Simplification, not alignment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Drug-like fraction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🟡 Confounded w/ simplification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Nearest-validation similarity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0.289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🟢 Clear domain shift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FCD-to-validation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24.44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22.40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🟢 Improved domain alignment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89320"/>
            <a:ext cx="11201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Best val loss 0.7213 at epoch 8 (baseline ≈ 0.83). </a:t>
            </a:r>
            <a:r>
              <a:rPr sz="1300" b="0">
                <a:solidFill>
                  <a:srgbClr val="555555"/>
                </a:solidFill>
                <a:latin typeface="Calibri"/>
              </a:rPr>
              <a:t>Similarity (+0.086) and FCD (−2.0) are the genuine alignment signals; QED / SA gains reflect simplification.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EXPERIMENT 1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Training &amp; Validation Loss — Full Fine-tuning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25880"/>
            <a:ext cx="740664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Validation loss falls substantially, reaching its minimum at epoch 8, then degrades — classic small-data overfitting.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Early stopping (patience 5) + best.ckpt selection capture the min-val-loss snapshot.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EXPERIMENT 1 · NOVEL SHOWCASE (QED ≥ 0.6, SA ≤ 4)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Five Example Generated Molecules</a:t>
            </a:r>
          </a:p>
        </p:txBody>
      </p:sp>
      <p:pic>
        <p:nvPicPr>
          <p:cNvPr id="5" name="Picture 4" descr="image_generated_ex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70720"/>
            <a:ext cx="5909223" cy="12228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484540"/>
              </p:ext>
            </p:extLst>
          </p:nvPr>
        </p:nvGraphicFramePr>
        <p:xfrm>
          <a:off x="6783572" y="1745440"/>
          <a:ext cx="4966465" cy="307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24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SMILES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QED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2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O=S(=O)(Nc1ccc(Br)cc1)c1ccccc1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1.48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0.276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2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Cn1cc(NC(=O)COc2ccc(Cl)cc2Cl)cn1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0.944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1.94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241">
                <a:tc>
                  <a:txBody>
                    <a:bodyPr/>
                    <a:lstStyle/>
                    <a:p>
                      <a:pPr algn="l"/>
                      <a:r>
                        <a:rPr sz="950" dirty="0">
                          <a:solidFill>
                            <a:srgbClr val="1A1A1A"/>
                          </a:solidFill>
                          <a:latin typeface="Calibri"/>
                        </a:rPr>
                        <a:t>CS(=O)(=O)c1ccc(C(=O)NCc2ccc(Cl)cc2)o1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0.939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2.07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0.254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2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COc1ccc(NC(=O)c2ccc(Br)cc2)cc1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0.939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1.34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0.250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2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O=C(O)c1ccc(Oc2ccc(Br)cc2)cc1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0.932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1.47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dirty="0">
                          <a:solidFill>
                            <a:srgbClr val="1A1A1A"/>
                          </a:solidFill>
                          <a:latin typeface="Calibri"/>
                        </a:rPr>
                        <a:t>0.276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394960"/>
            <a:ext cx="5349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Sim = nearest-validation ECFP4 Tanimoto similarity. All five are novel, valid, and drug-like.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EXPERIMENTS 1–3 · BASE→FINE-TUNED Δ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Experiment Comparison — LR &amp; Layer Freezing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3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5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5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 (direction)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Original LR 1e-4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Lower LR 2e-5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Frozen-9 layers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Validity 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-1.8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+0.7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-1.8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Uniqueness ↑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-15.7 pp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-12.6 pp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-19.2 pp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Novelty 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-8.9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-6.6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-12.4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QED ↑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+0.092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SA 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-0.629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-0.316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-0.647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Diversity ↑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-0.044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-0.016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-0.034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Drug-like fraction 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+7.6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+1.4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+1.5 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Nearest-validation similarity ↑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+0.086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+0.044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+0.065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FCD-to-validation 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-2.042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-2.232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-1.478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201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Original LR: strongest property / domain shift.  Lower LR: best diversity + FCD.  Frozen-9: strong SA but largest novelty/uniqueness loss.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76B900"/>
                </a:solidFill>
                <a:latin typeface="Calibri"/>
              </a:rPr>
              <a:t>Recommended: full fine-tuning at original or lower LR; freezing not preferred.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READ RESULTS WITH CARE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Small, broad dataset (1,056 mols / 105 val) — variance and overfitting / mode-collapse risk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Weak domain definition — ESOL is not a therapeutic series; solubility labels unused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Limited generalizability — specific to GenMol, ESOL, this scaffold split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Externally controlled length — isolates tokens but doesn't test length learning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Proxy-only chemistry — QED/SA/FCD ≠ potency, ADMET, synthesizability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32588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Sampling sensitivity — temperature / randomness / min length shift metrics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Stochastic uncertainty — bf16/CUDA limit exact repeatability; needs multi-seed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Validation set double-used — drives both selection and alignment metrics (optimistic bias)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No uncertainty quantification — single-seed point estimates, no confidence intervals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•  Small FCD reference — 105 molecules is well below typical FCD sample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WHERE TO GO FROM HERE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39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Decision / Output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Replicate across ≥3 seeds; fixed diffusion-time grid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Verify stability of ranking and gains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Expand freeze-layers × lr Slurm sweep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Select via health gate + composite score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Sweep softmax_temp × randomness (both length priors)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Separate fine-tuning gains from sampling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Replace broad ESOL with a sharper domain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Soluble subset / congeneric / ChEMBL target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Compare full vs freeze vs LoRA/PEFT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Same seeds + evaluation protocol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Add chemistry checks + generation guardrails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PAINS / Lipinski / retrosynthesis / ADMET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Split off an untouched test 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Report final similarity + FCD on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Bootstrap confidence intervals on all metrics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Attach CIs before claiming improvement</a:t>
                      </a:r>
                    </a:p>
                  </a:txBody>
                  <a:tcPr marL="54864" marR="54864" marT="18288" marB="18288"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Fine-tuning PoC · Small Molecule Design (Delaney / ESOL)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GenMol can be fine-tuned on ESOL on one A100 via Slurm, measurably changing the generated distribution.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Full fine-tuning at 1e-4 gave the strongest QED / SA / drug-like / similarity gains while retaining 97.5% validity and 85.0% novelty.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Adaptation traded off uniqueness and diversity; nearest-validation similarity (+0.086) and FCD (−2.0) are the genuine alignment signals.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Lower LR preserved diversity and achieved the best FCD; freezing 9 layers did not improve the trade-off.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Feasibility demonstrated — multi-seed evaluation and an independent test set are required before stronger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76B900"/>
                </a:solidFill>
                <a:latin typeface="Calibri"/>
              </a:rPr>
              <a:t>PoC successful — approach validated end-to-end.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1795</Words>
  <Application>Microsoft Macintosh PowerPoint</Application>
  <PresentationFormat>Widescreen</PresentationFormat>
  <Paragraphs>330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Vibhas B</cp:lastModifiedBy>
  <cp:revision>2</cp:revision>
  <dcterms:created xsi:type="dcterms:W3CDTF">2013-01-27T09:14:16Z</dcterms:created>
  <dcterms:modified xsi:type="dcterms:W3CDTF">2026-09-06T21:10:03Z</dcterms:modified>
  <cp:category/>
</cp:coreProperties>
</file>